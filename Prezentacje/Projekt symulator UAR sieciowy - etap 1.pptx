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38"/>
  </p:notesMasterIdLst>
  <p:sldIdLst>
    <p:sldId id="256" r:id="rId2"/>
    <p:sldId id="263" r:id="rId3"/>
    <p:sldId id="264" r:id="rId4"/>
    <p:sldId id="271" r:id="rId5"/>
    <p:sldId id="267" r:id="rId6"/>
    <p:sldId id="273" r:id="rId7"/>
    <p:sldId id="275" r:id="rId8"/>
    <p:sldId id="274" r:id="rId9"/>
    <p:sldId id="276" r:id="rId10"/>
    <p:sldId id="272" r:id="rId11"/>
    <p:sldId id="277" r:id="rId12"/>
    <p:sldId id="262" r:id="rId13"/>
    <p:sldId id="265" r:id="rId14"/>
    <p:sldId id="266" r:id="rId15"/>
    <p:sldId id="285" r:id="rId16"/>
    <p:sldId id="279" r:id="rId17"/>
    <p:sldId id="281" r:id="rId18"/>
    <p:sldId id="283" r:id="rId19"/>
    <p:sldId id="284" r:id="rId20"/>
    <p:sldId id="280" r:id="rId21"/>
    <p:sldId id="282" r:id="rId22"/>
    <p:sldId id="292" r:id="rId23"/>
    <p:sldId id="286" r:id="rId24"/>
    <p:sldId id="258" r:id="rId25"/>
    <p:sldId id="269" r:id="rId26"/>
    <p:sldId id="287" r:id="rId27"/>
    <p:sldId id="289" r:id="rId28"/>
    <p:sldId id="270" r:id="rId29"/>
    <p:sldId id="288" r:id="rId30"/>
    <p:sldId id="291" r:id="rId31"/>
    <p:sldId id="290" r:id="rId32"/>
    <p:sldId id="268" r:id="rId33"/>
    <p:sldId id="259" r:id="rId34"/>
    <p:sldId id="260" r:id="rId35"/>
    <p:sldId id="261" r:id="rId36"/>
    <p:sldId id="25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5D7A3D-96F7-480E-A1DE-D6B8EE885604}" v="1" dt="2026-06-12T09:04:40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1T16:17:42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24575,'0'0'0,"0"0"0,0 0 0,0 0 0,0 0 0,0 0 0,0 0 0,0 0 0,0 0 0,0 0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1T16:28:09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1 232 24575,'383'0'0,"-380"0"0,0 0 0,1 0 0,-1-1 0,0 1 0,0-1 0,1 1 0,3-3 0,-6 3 0,-1 0 0,1-1 0,-1 1 0,1 0 0,-1-1 0,0 1 0,1-1 0,-1 1 0,0-1 0,1 1 0,-1 0 0,0-1 0,1 1 0,-1-1 0,0 0 0,0 1 0,0-1 0,0 1 0,1-1 0,-1 1 0,0-1 0,0 1 0,0-1 0,0 0 0,0 1 0,0-1 0,0 1 0,-1-1 0,1 1 0,0-1 0,0 1 0,0-1 0,0 0 0,-1 1 0,1-1 0,0 1 0,-1 0 0,1-1 0,0 1 0,-1-1 0,1 1 0,0-1 0,-1 1 0,1 0 0,-1-1 0,0 1 0,-15-19 0,-1 2 0,-33-28 0,-2-1 0,38 34 0,0 1 0,-17-11 0,-14-11 0,144 125 0,-81-75 0,29 20 0,-33-27 0,0 0 0,-1 1 0,0 1 0,21 24 0,-34-34 0,1-1 0,0 1 0,-1-1 0,1 1 0,-1-1 0,0 1 0,1 0 0,-1-1 0,0 1 0,0 0 0,0-1 0,0 1 0,0 0 0,0-1 0,-1 1 0,1 0 0,-1-1 0,1 1 0,-1-1 0,1 1 0,-1-1 0,0 1 0,0-1 0,0 1 0,1-1 0,-2 0 0,1 1 0,0-1 0,0 0 0,-2 1 0,-6 8 0,0-1 0,-21 14 0,18-13 0,-32 20 0,33-23 0,0 1 0,1 0 0,-1 0 0,-13 16 0,9-7 0,1 1 0,0 1 0,2 0 0,0 0 0,-14 36 0,24-52-113,2-2 40,0 0-1,0 0 0,-1 0 1,1 0-1,0 0 0,-1 0 1,1 0-1,-1 0 0,1 0 1,-1 0-1,1 0 0,-1-1 1,0 1-1,1 0 0,-1 0 1,-1 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1T16:28:13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1 276 24575,'30'0'0,"0"1"0,1-1 0,-1-2 0,1 0 0,-1-2 0,59-16 0,-54 9 0,1 2 0,0 1 0,72-5 0,111 10 0,-155 4 0,-58-1 0,-1 0 0,1 0 0,-1 0 0,1-1 0,0 0 0,-1-1 0,10-2 0,-14 3 0,0 1 0,0-1 0,-1 1 0,1-1 0,0 1 0,0-1 0,0 0 0,0 0 0,0 1 0,-1-1 0,1 0 0,0 0 0,-1 0 0,1 0 0,-1 0 0,1 0 0,-1 0 0,1-1 0,-1 0 0,1 0 0,-1 0 0,0 1 0,0-1 0,-1 0 0,1 0 0,0 1 0,-1-1 0,1 0 0,-1 0 0,1 1 0,-1-1 0,0 0 0,1 1 0,-3-3 0,-2-2 0,0 0 0,-1 0 0,0 0 0,0 1 0,-1 0 0,0 0 0,1 0 0,-2 1 0,1 0 0,0 1 0,-12-5 0,-16-9 0,21 11 0,1 0 0,-1 0 0,-1 1 0,-15-2 0,-28-11 0,44 8 0,14 10 0,0 0 0,0-1 0,0 1 0,0 0 0,0-1 0,1 1 0,-1 0 0,0 0 0,0-1 0,0 1 0,0 0 0,0-1 0,0 1 0,0 0 0,1 0 0,-1-1 0,0 1 0,0 0 0,0 0 0,1-1 0,-1 1 0,0 0 0,0 0 0,1 0 0,-1 0 0,0-1 0,0 1 0,1 0 0,-1 0 0,1 0 0,29-7 0,-19 9 0,1 0 0,-1 0 0,0 1 0,0 1 0,0 0 0,0 0 0,-1 1 0,0 0 0,0 1 0,0 0 0,0 1 0,8 8 0,-12-8 0,0 0 0,0 0 0,-1 0 0,0 1 0,0 0 0,-1 0 0,0 0 0,0 1 0,-1-1 0,0 1 0,-1 0 0,1 0 0,-2 0 0,1 0 0,-1 10 0,-2-14 0,0 0 0,0 1 0,0-1 0,-1 0 0,0-1 0,0 1 0,0 0 0,-1 0 0,1-1 0,-1 1 0,-5 4 0,-4 4 0,0 0 0,-16 12 0,21-20 0,0 1 0,0 0 0,0 0 0,0 1 0,1 0 0,0 0 0,1 0 0,0 1 0,0 0 0,0 0 0,1 0 0,-4 12 0,-1 29 24,8-37-256,-1-1 1,0 1-1,0-1 1,-2 0-1,-5 14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226B0-7B25-435F-86DA-5D9F46963E76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9841B-329E-4BBA-8373-BACC083F1D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838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9841B-329E-4BBA-8373-BACC083F1DB6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138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9841B-329E-4BBA-8373-BACC083F1DB6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5930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err="1"/>
              <a:t>Chg</a:t>
            </a:r>
            <a:r>
              <a:rPr lang="pl-PL"/>
              <a:t> – czy nastąpiła zmiana parametrów jeśli tak to = 1</a:t>
            </a:r>
          </a:p>
          <a:p>
            <a:r>
              <a:rPr lang="pl-PL" err="1"/>
              <a:t>Ovl</a:t>
            </a:r>
            <a:r>
              <a:rPr lang="pl-PL"/>
              <a:t> – </a:t>
            </a:r>
            <a:r>
              <a:rPr lang="pl-PL" err="1"/>
              <a:t>overflow</a:t>
            </a:r>
            <a:r>
              <a:rPr lang="pl-PL"/>
              <a:t> na numerze cyklu generatora jeśli tak to =1</a:t>
            </a:r>
          </a:p>
          <a:p>
            <a:r>
              <a:rPr lang="pl-PL"/>
              <a:t>Ret – to jest </a:t>
            </a:r>
            <a:r>
              <a:rPr lang="pl-PL" err="1"/>
              <a:t>prosba</a:t>
            </a:r>
            <a:r>
              <a:rPr lang="pl-PL"/>
              <a:t> o retransmisję jeśli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err="1"/>
              <a:t>Err</a:t>
            </a:r>
            <a:r>
              <a:rPr lang="pl-PL"/>
              <a:t> – wysyłana odpowiedź = 1 jeśli nie ma już tego cyklu w buforze</a:t>
            </a:r>
          </a:p>
          <a:p>
            <a:endParaRPr lang="pl-PL"/>
          </a:p>
          <a:p>
            <a:r>
              <a:rPr lang="pl-PL"/>
              <a:t>Suma </a:t>
            </a:r>
            <a:r>
              <a:rPr lang="pl-PL" err="1"/>
              <a:t>kontolna</a:t>
            </a:r>
            <a:r>
              <a:rPr lang="pl-PL"/>
              <a:t> jako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9841B-329E-4BBA-8373-BACC083F1DB6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4872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CA42A-03AB-0176-817B-E86EA32B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6C50C55-3B26-4FF6-E3B7-16A2C5E7F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8C359D7-D197-A328-465E-292D8A94D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42255F0-2247-2FC4-23D3-E059FD7D6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9841B-329E-4BBA-8373-BACC083F1DB6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5870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614D-EBBB-77F2-A7D5-F36749E2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F67BA21-8FDD-8B11-3ED4-FDF5E87CF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D8649D3-9B9B-3118-62F7-C271A596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D82305-AAB4-F755-2E36-F1EDE9CA4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9841B-329E-4BBA-8373-BACC083F1DB6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8932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0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508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885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63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589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75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869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813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001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776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039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1010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5597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348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2106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751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7891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7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mailto:as316262@student.polsl.pl" TargetMode="External"/><Relationship Id="rId2" Type="http://schemas.openxmlformats.org/officeDocument/2006/relationships/hyperlink" Target="mailto:kw316241@student.polsl.pl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0806C6-65E3-F2F2-DB07-802437C1F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Symulator UAR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2BC65E4-D068-35A2-6142-3CD003126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Wersja działająca w środowisku sieciowym</a:t>
            </a:r>
          </a:p>
        </p:txBody>
      </p:sp>
    </p:spTree>
    <p:extLst>
      <p:ext uri="{BB962C8B-B14F-4D97-AF65-F5344CB8AC3E}">
        <p14:creationId xmlns:p14="http://schemas.microsoft.com/office/powerpoint/2010/main" val="10209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1D9202-ADC9-563C-4204-62BA55B3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 i weryfikacja otrzymanej aplikacji</a:t>
            </a:r>
          </a:p>
        </p:txBody>
      </p:sp>
    </p:spTree>
    <p:extLst>
      <p:ext uri="{BB962C8B-B14F-4D97-AF65-F5344CB8AC3E}">
        <p14:creationId xmlns:p14="http://schemas.microsoft.com/office/powerpoint/2010/main" val="222444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E6B9185A-E2AF-295A-8538-AC25C85C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</a:t>
            </a:r>
          </a:p>
        </p:txBody>
      </p:sp>
      <p:pic>
        <p:nvPicPr>
          <p:cNvPr id="3" name="Symbol zastępczy zawartości 2">
            <a:extLst>
              <a:ext uri="{FF2B5EF4-FFF2-40B4-BE49-F238E27FC236}">
                <a16:creationId xmlns:a16="http://schemas.microsoft.com/office/drawing/2014/main" id="{98C39C1E-0FEE-8C18-5E7D-F7A328F9F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0321" y="2914589"/>
            <a:ext cx="1526631" cy="359886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180E5C2-CAFF-6787-148A-311DB07BD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94" y="2098114"/>
            <a:ext cx="9945488" cy="552527"/>
          </a:xfrm>
          <a:prstGeom prst="rect">
            <a:avLst/>
          </a:prstGeom>
        </p:spPr>
      </p:pic>
      <p:pic>
        <p:nvPicPr>
          <p:cNvPr id="8" name="20260321-1611-06.6626020">
            <a:hlinkClick r:id="" action="ppaction://media"/>
            <a:extLst>
              <a:ext uri="{FF2B5EF4-FFF2-40B4-BE49-F238E27FC236}">
                <a16:creationId xmlns:a16="http://schemas.microsoft.com/office/drawing/2014/main" id="{AB55D455-BC0F-E553-41B3-5259B9BC57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911948" y="3790777"/>
            <a:ext cx="5382234" cy="2972843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6161CEE5-3895-D6DA-761B-9EEE8FAC68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2199" y="3157499"/>
            <a:ext cx="9288171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4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E6B9185A-E2AF-295A-8538-AC25C85C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Pismo odręczne 26">
                <a:extLst>
                  <a:ext uri="{FF2B5EF4-FFF2-40B4-BE49-F238E27FC236}">
                    <a16:creationId xmlns:a16="http://schemas.microsoft.com/office/drawing/2014/main" id="{6B27A544-4FCE-9513-D419-6B36E63B87C9}"/>
                  </a:ext>
                </a:extLst>
              </p14:cNvPr>
              <p14:cNvContentPartPr/>
              <p14:nvPr/>
            </p14:nvContentPartPr>
            <p14:xfrm>
              <a:off x="10424125" y="2975494"/>
              <a:ext cx="360" cy="360"/>
            </p14:xfrm>
          </p:contentPart>
        </mc:Choice>
        <mc:Fallback xmlns="">
          <p:pic>
            <p:nvPicPr>
              <p:cNvPr id="27" name="Pismo odręczne 26">
                <a:extLst>
                  <a:ext uri="{FF2B5EF4-FFF2-40B4-BE49-F238E27FC236}">
                    <a16:creationId xmlns:a16="http://schemas.microsoft.com/office/drawing/2014/main" id="{6B27A544-4FCE-9513-D419-6B36E63B87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06125" y="2957494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20260321-1618-23.2280719">
            <a:hlinkClick r:id="" action="ppaction://media"/>
            <a:extLst>
              <a:ext uri="{FF2B5EF4-FFF2-40B4-BE49-F238E27FC236}">
                <a16:creationId xmlns:a16="http://schemas.microsoft.com/office/drawing/2014/main" id="{19C96B2D-9F21-DC86-BCC0-AD704BA002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11451" y="3628190"/>
            <a:ext cx="5883275" cy="3122426"/>
          </a:xfrm>
          <a:prstGeom prst="rect">
            <a:avLst/>
          </a:prstGeom>
        </p:spPr>
      </p:pic>
      <p:pic>
        <p:nvPicPr>
          <p:cNvPr id="30" name="Obraz 29">
            <a:extLst>
              <a:ext uri="{FF2B5EF4-FFF2-40B4-BE49-F238E27FC236}">
                <a16:creationId xmlns:a16="http://schemas.microsoft.com/office/drawing/2014/main" id="{65259AEA-65CF-1FF6-95D8-3DF628A34B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3512" y="2870669"/>
            <a:ext cx="7997940" cy="718281"/>
          </a:xfrm>
          <a:prstGeom prst="rect">
            <a:avLst/>
          </a:prstGeom>
        </p:spPr>
      </p:pic>
      <p:pic>
        <p:nvPicPr>
          <p:cNvPr id="32" name="Obraz 31">
            <a:extLst>
              <a:ext uri="{FF2B5EF4-FFF2-40B4-BE49-F238E27FC236}">
                <a16:creationId xmlns:a16="http://schemas.microsoft.com/office/drawing/2014/main" id="{D5B9C335-066A-6838-E818-EA057A32F8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451" y="5189403"/>
            <a:ext cx="3886742" cy="1476581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AA09E7A6-B996-07C4-0757-67E9D5523B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260" y="4545240"/>
            <a:ext cx="5253911" cy="47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0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4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8A9802-0BFC-1DB0-36F4-E6B32D42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</a:t>
            </a:r>
          </a:p>
        </p:txBody>
      </p:sp>
      <p:pic>
        <p:nvPicPr>
          <p:cNvPr id="4" name="20260321-1621-28.9329115">
            <a:hlinkClick r:id="" action="ppaction://media"/>
            <a:extLst>
              <a:ext uri="{FF2B5EF4-FFF2-40B4-BE49-F238E27FC236}">
                <a16:creationId xmlns:a16="http://schemas.microsoft.com/office/drawing/2014/main" id="{08EFC897-C838-B155-ABD0-A118B68D16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20308" y="3155669"/>
            <a:ext cx="7151384" cy="370233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9182940-F42E-97B3-8E39-D1725C42B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359" y="1961944"/>
            <a:ext cx="8131281" cy="11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8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E75B-5D26-8B02-B718-149CE42B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01C787-B422-4FAC-AF47-AC5A1BF9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BFC68A8-CB19-DB01-8CE2-E9C5766DF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109" y="2179529"/>
            <a:ext cx="4210937" cy="445300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D550AF88-0099-821F-DD2C-5ECDEDA87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6" y="2920910"/>
            <a:ext cx="7361494" cy="24400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16F39441-FBEF-4282-7501-2601A57D5352}"/>
                  </a:ext>
                </a:extLst>
              </p14:cNvPr>
              <p14:cNvContentPartPr/>
              <p14:nvPr/>
            </p14:nvContentPartPr>
            <p14:xfrm>
              <a:off x="312948" y="3699454"/>
              <a:ext cx="155520" cy="20772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16F39441-FBEF-4282-7501-2601A57D53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906" y="3681485"/>
                <a:ext cx="191243" cy="243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064D2E37-DC9F-D533-D9B3-D34E5C312212}"/>
                  </a:ext>
                </a:extLst>
              </p14:cNvPr>
              <p14:cNvContentPartPr/>
              <p14:nvPr/>
            </p14:nvContentPartPr>
            <p14:xfrm>
              <a:off x="288108" y="4222174"/>
              <a:ext cx="302040" cy="19980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064D2E37-DC9F-D533-D9B3-D34E5C3122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108" y="4204174"/>
                <a:ext cx="337680" cy="23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935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348A-3EB3-00AE-25EA-22C8DA77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41028D-D02E-664A-8927-F5F4F117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C06669E-04B1-1DF0-B0B2-CE9E87F4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70" y="2152272"/>
            <a:ext cx="10116962" cy="1676634"/>
          </a:xfrm>
          <a:prstGeom prst="rect">
            <a:avLst/>
          </a:prstGeom>
        </p:spPr>
      </p:pic>
      <p:pic>
        <p:nvPicPr>
          <p:cNvPr id="1026" name="Picture 2" descr="Round tumbleweed. flat cartoon style. vector design on white background  34320143 Vector Art at Vecteezy">
            <a:extLst>
              <a:ext uri="{FF2B5EF4-FFF2-40B4-BE49-F238E27FC236}">
                <a16:creationId xmlns:a16="http://schemas.microsoft.com/office/drawing/2014/main" id="{4E2EC5CA-70D5-6925-1A58-73D6E4B1A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-1554739" y="2990589"/>
            <a:ext cx="1236744" cy="123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77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56 0.03217 L 0.06875 0.20509 L 0.21107 0.29143 L 0.33333 0.22615 L 0.52435 0.29375 L 0.67031 0.22199 L 0.68229 0.22199 L 0.84245 0.29375 C 0.86771 0.30717 0.85872 0.29977 0.87096 0.31065 L 1.04297 0.19653 L 1.14036 0.2368 " pathEditMode="relative" rAng="0" ptsTypes="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990" y="139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8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D5266-6B0F-08AD-AA82-4644BC3F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32A9BA-738C-D783-F1A8-D42F3629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Walidacja</a:t>
            </a:r>
          </a:p>
        </p:txBody>
      </p:sp>
      <p:pic>
        <p:nvPicPr>
          <p:cNvPr id="4" name="20260322-1740-52.9408737">
            <a:hlinkClick r:id="" action="ppaction://media"/>
            <a:extLst>
              <a:ext uri="{FF2B5EF4-FFF2-40B4-BE49-F238E27FC236}">
                <a16:creationId xmlns:a16="http://schemas.microsoft.com/office/drawing/2014/main" id="{58B59B43-262C-A61C-DBCD-449F8B9F51D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41324" y="2643654"/>
            <a:ext cx="8129393" cy="4214346"/>
          </a:xfr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0E1AAA1-4A7F-07A6-94E1-64A42349C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21" y="1989415"/>
            <a:ext cx="10116962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9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65AA0-C2B4-3B79-E4E1-4F4CDB25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6BB5FC-6ED3-B7B0-51F9-9EAC0652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Weryfikacja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64351E0-2585-3B76-36AC-FF4BF2E2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59" y="2298148"/>
            <a:ext cx="9554908" cy="733527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EDF31DDF-BD23-6118-B22F-6171D1934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59" y="3429000"/>
            <a:ext cx="9613861" cy="63826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223DD547-1DF6-4337-919C-F79461848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0332"/>
          <a:stretch>
            <a:fillRect/>
          </a:stretch>
        </p:blipFill>
        <p:spPr>
          <a:xfrm>
            <a:off x="9298488" y="4269200"/>
            <a:ext cx="2893512" cy="2588800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CFD392ED-3AB8-3317-6078-1A750703D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459" y="4626509"/>
            <a:ext cx="8470891" cy="360293"/>
          </a:xfrm>
          <a:prstGeom prst="rect">
            <a:avLst/>
          </a:prstGeom>
        </p:spPr>
      </p:pic>
      <p:sp>
        <p:nvSpPr>
          <p:cNvPr id="15" name="Owal 14">
            <a:extLst>
              <a:ext uri="{FF2B5EF4-FFF2-40B4-BE49-F238E27FC236}">
                <a16:creationId xmlns:a16="http://schemas.microsoft.com/office/drawing/2014/main" id="{22AE40D4-7E21-45DF-7421-2B06F9B3D38C}"/>
              </a:ext>
            </a:extLst>
          </p:cNvPr>
          <p:cNvSpPr/>
          <p:nvPr/>
        </p:nvSpPr>
        <p:spPr>
          <a:xfrm>
            <a:off x="9192126" y="5137484"/>
            <a:ext cx="697832" cy="63826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93379CD6-F63C-F857-8EE9-910B94CB8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459" y="5484870"/>
            <a:ext cx="8470891" cy="37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1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36DA-71BA-2027-7E4E-E76865D1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A82AFF-8AE8-86A9-7982-A0C23C61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Weryfikacja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0C09649-B418-644D-F43E-9ACFF11EB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21" y="2310063"/>
            <a:ext cx="8800206" cy="365742"/>
          </a:xfrm>
          <a:prstGeom prst="rect">
            <a:avLst/>
          </a:prstGeom>
        </p:spPr>
      </p:pic>
      <p:pic>
        <p:nvPicPr>
          <p:cNvPr id="6" name="20260322-1809-01.3605984">
            <a:hlinkClick r:id="" action="ppaction://media"/>
            <a:extLst>
              <a:ext uri="{FF2B5EF4-FFF2-40B4-BE49-F238E27FC236}">
                <a16:creationId xmlns:a16="http://schemas.microsoft.com/office/drawing/2014/main" id="{21FEC1F2-E8B5-A194-0F0D-D3D2239017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0321" y="2868282"/>
            <a:ext cx="6376570" cy="332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6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0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36DA-71BA-2027-7E4E-E76865D1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A82AFF-8AE8-86A9-7982-A0C23C61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Weryfikacja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EBC3DB8-E0A8-3229-6667-BA9DEC434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21" y="2312291"/>
            <a:ext cx="9781224" cy="364066"/>
          </a:xfrm>
          <a:prstGeom prst="rect">
            <a:avLst/>
          </a:prstGeom>
        </p:spPr>
      </p:pic>
      <p:pic>
        <p:nvPicPr>
          <p:cNvPr id="7" name="20260322-1813-16.8506597">
            <a:hlinkClick r:id="" action="ppaction://media"/>
            <a:extLst>
              <a:ext uri="{FF2B5EF4-FFF2-40B4-BE49-F238E27FC236}">
                <a16:creationId xmlns:a16="http://schemas.microsoft.com/office/drawing/2014/main" id="{3E6A6A53-207A-6B61-01B0-DAE6F96301B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98641" y="2676357"/>
            <a:ext cx="7194717" cy="368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2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9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FD828F-AE39-1448-544A-EDA721E0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err="1"/>
              <a:t>Code</a:t>
            </a:r>
            <a:r>
              <a:rPr lang="pl-PL"/>
              <a:t> </a:t>
            </a:r>
            <a:r>
              <a:rPr lang="pl-PL" err="1"/>
              <a:t>review</a:t>
            </a:r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2F31772-E063-DB20-6A79-06C7769B6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306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6DF60C59-B082-D203-DDE3-A53FDBC3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Przykłady dobrego kodu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810469FF-5EC9-F23A-F625-0E15A32E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4" y="2272022"/>
            <a:ext cx="5255074" cy="429722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32A6D848-0C6C-8151-BB33-9489C3213783}"/>
              </a:ext>
            </a:extLst>
          </p:cNvPr>
          <p:cNvSpPr txBox="1"/>
          <p:nvPr/>
        </p:nvSpPr>
        <p:spPr>
          <a:xfrm>
            <a:off x="6096000" y="2526632"/>
            <a:ext cx="5602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W tym fragmencie kodu, mamy czytelne formatowanie i komentarze, które streszczają kod, co ułatwia interpretację i odnajdywanie się w całości.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14BCF86-D40E-B2A8-3EF4-FA6DE7BD4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0078" y="6084277"/>
            <a:ext cx="551922" cy="7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5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505C4C-2CDD-2591-795B-1615079F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0A93F92-FEBF-CFF9-5545-624113585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027" y="2101192"/>
            <a:ext cx="4283819" cy="1587892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DD83DAB-720C-27A1-AFD3-30935E51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79" y="3956111"/>
            <a:ext cx="5468113" cy="2448267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515C703-CA1E-DB0C-3C5C-1B165297A0AA}"/>
              </a:ext>
            </a:extLst>
          </p:cNvPr>
          <p:cNvSpPr txBox="1"/>
          <p:nvPr/>
        </p:nvSpPr>
        <p:spPr>
          <a:xfrm>
            <a:off x="1311442" y="2358189"/>
            <a:ext cx="5787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Zbyt krótkie nazwy zmiennych. Jeśli chcemy mieć skrajnie krótkie nazwy, możemy zrezygnować z przedrostka </a:t>
            </a:r>
            <a:r>
              <a:rPr lang="pl-PL" i="1"/>
              <a:t>m_*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5567F15-38A6-B2E8-8E20-8730E35F006C}"/>
              </a:ext>
            </a:extLst>
          </p:cNvPr>
          <p:cNvSpPr txBox="1"/>
          <p:nvPr/>
        </p:nvSpPr>
        <p:spPr>
          <a:xfrm>
            <a:off x="6773779" y="4355432"/>
            <a:ext cx="444914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l-PL"/>
              <a:t>Nieeleganckie „wyciąganie” obiektów należących do obiektu UAR poza niego. 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CBEADBE-05EC-8962-145F-4A7631068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7569" y="6048410"/>
            <a:ext cx="574431" cy="80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1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733C-EADC-0A46-B5B7-7710ED28E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68FE9F-C701-5D61-ADFA-B31F135C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D1850D6-1C02-288B-C18B-E865F9FEF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75" y="2210835"/>
            <a:ext cx="4379532" cy="224084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259CDA3F-8941-B712-26FA-74793F1DA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256" y="3079890"/>
            <a:ext cx="4170081" cy="3504788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D3FC7AFB-C141-F5C8-E6B2-12B8EE2191B7}"/>
              </a:ext>
            </a:extLst>
          </p:cNvPr>
          <p:cNvSpPr txBox="1"/>
          <p:nvPr/>
        </p:nvSpPr>
        <p:spPr>
          <a:xfrm>
            <a:off x="1395663" y="5065295"/>
            <a:ext cx="5594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Mało czytelne i niespójne co do schematu nazewnictwa nazwy metod. Nie podoba nam się używanie przedrostka m_ w nazwie metody typu seter/getter.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C6AC79A-CE4F-B897-66CA-7491EAE438C7}"/>
              </a:ext>
            </a:extLst>
          </p:cNvPr>
          <p:cNvSpPr txBox="1"/>
          <p:nvPr/>
        </p:nvSpPr>
        <p:spPr>
          <a:xfrm>
            <a:off x="5233737" y="2210835"/>
            <a:ext cx="528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Podwójne sprawdzenie tego samego warunku…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484EF30-6A3F-C38F-87AB-9F5992A38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6746" y="6096000"/>
            <a:ext cx="545253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3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19C2-7D51-C2DB-BB63-B42B92CCF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605D84-B68E-1E6A-D3B5-E55072DC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21" name="Obraz 20">
            <a:extLst>
              <a:ext uri="{FF2B5EF4-FFF2-40B4-BE49-F238E27FC236}">
                <a16:creationId xmlns:a16="http://schemas.microsoft.com/office/drawing/2014/main" id="{320C37EF-980B-49D6-2F6C-9F35789E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23" y="2076381"/>
            <a:ext cx="5039428" cy="4582164"/>
          </a:xfrm>
          <a:prstGeom prst="rect">
            <a:avLst/>
          </a:prstGeom>
        </p:spPr>
      </p:pic>
      <p:pic>
        <p:nvPicPr>
          <p:cNvPr id="23" name="Obraz 22">
            <a:extLst>
              <a:ext uri="{FF2B5EF4-FFF2-40B4-BE49-F238E27FC236}">
                <a16:creationId xmlns:a16="http://schemas.microsoft.com/office/drawing/2014/main" id="{C6280089-66F1-5ED3-3431-C9DF155E5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85" y="3145995"/>
            <a:ext cx="5315692" cy="181000"/>
          </a:xfrm>
          <a:prstGeom prst="rect">
            <a:avLst/>
          </a:prstGeom>
        </p:spPr>
      </p:pic>
      <p:pic>
        <p:nvPicPr>
          <p:cNvPr id="25" name="Obraz 24">
            <a:extLst>
              <a:ext uri="{FF2B5EF4-FFF2-40B4-BE49-F238E27FC236}">
                <a16:creationId xmlns:a16="http://schemas.microsoft.com/office/drawing/2014/main" id="{D0BF8AA5-463E-D8B2-A5C9-D88770999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85" y="4367463"/>
            <a:ext cx="4143953" cy="1324160"/>
          </a:xfrm>
          <a:prstGeom prst="rect">
            <a:avLst/>
          </a:prstGeom>
        </p:spPr>
      </p:pic>
      <p:sp>
        <p:nvSpPr>
          <p:cNvPr id="26" name="pole tekstowe 25">
            <a:extLst>
              <a:ext uri="{FF2B5EF4-FFF2-40B4-BE49-F238E27FC236}">
                <a16:creationId xmlns:a16="http://schemas.microsoft.com/office/drawing/2014/main" id="{76908ADE-BC04-EB03-7DE6-82F4F923CE1B}"/>
              </a:ext>
            </a:extLst>
          </p:cNvPr>
          <p:cNvSpPr txBox="1"/>
          <p:nvPr/>
        </p:nvSpPr>
        <p:spPr>
          <a:xfrm>
            <a:off x="6295885" y="2719137"/>
            <a:ext cx="53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Czy nie lepszy byłby </a:t>
            </a:r>
            <a:r>
              <a:rPr lang="pl-PL" err="1"/>
              <a:t>enum</a:t>
            </a:r>
            <a:r>
              <a:rPr lang="pl-PL"/>
              <a:t>?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5E836994-0D5C-D003-7265-4C9EEF04970C}"/>
              </a:ext>
            </a:extLst>
          </p:cNvPr>
          <p:cNvSpPr txBox="1"/>
          <p:nvPr/>
        </p:nvSpPr>
        <p:spPr>
          <a:xfrm>
            <a:off x="6295885" y="3598013"/>
            <a:ext cx="5230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Dlaczego przypisujemy zmiennym typu </a:t>
            </a:r>
            <a:r>
              <a:rPr lang="pl-PL" err="1"/>
              <a:t>double</a:t>
            </a:r>
            <a:r>
              <a:rPr lang="pl-PL"/>
              <a:t>, wartości całkowite przy inicjalizacji?</a:t>
            </a: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7B32ED18-8BC5-D136-E567-316F661FBC1F}"/>
              </a:ext>
            </a:extLst>
          </p:cNvPr>
          <p:cNvSpPr txBox="1"/>
          <p:nvPr/>
        </p:nvSpPr>
        <p:spPr>
          <a:xfrm>
            <a:off x="2160220" y="2281535"/>
            <a:ext cx="3392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Dlaczego w oknie aplikacji replikujemy API warstwy usług?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ECBA1F0-4601-BEFF-7004-FB6B030D6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1354" y="6186290"/>
            <a:ext cx="480646" cy="67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7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01C8-6902-7B99-434A-7240B8C9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0CC981-8B40-3A45-F280-294EDC4FB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1C3ABB4-E379-4128-09A4-D377F7412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7" y="2100054"/>
            <a:ext cx="5767829" cy="4180429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8719C001-FFA8-8644-5FF5-3411D4F412D4}"/>
              </a:ext>
            </a:extLst>
          </p:cNvPr>
          <p:cNvSpPr txBox="1"/>
          <p:nvPr/>
        </p:nvSpPr>
        <p:spPr>
          <a:xfrm>
            <a:off x="6894095" y="2971800"/>
            <a:ext cx="4957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Naszym zdaniem kod odpowiadający za zapis do pliku powinien znajdować się w warstwie usług, nie prezentacji.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6BB10EE-B562-0A2A-D5F4-50BA990B8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0413" y="6147552"/>
            <a:ext cx="501586" cy="71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29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9225-E39D-D35B-8AB7-B7A127C5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3CFBBD-FC10-5C61-D5A0-3C4804AB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B1CF2D1-8388-96C6-698E-CEEA505E0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472" y="1293697"/>
            <a:ext cx="3296110" cy="5391902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64F03608-AFE2-3C88-F555-F6D0F002430A}"/>
              </a:ext>
            </a:extLst>
          </p:cNvPr>
          <p:cNvCxnSpPr/>
          <p:nvPr/>
        </p:nvCxnSpPr>
        <p:spPr>
          <a:xfrm>
            <a:off x="6018874" y="6201976"/>
            <a:ext cx="1191127" cy="3368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E9D8C559-B774-A0AE-C424-25FD17DDE5C6}"/>
              </a:ext>
            </a:extLst>
          </p:cNvPr>
          <p:cNvCxnSpPr/>
          <p:nvPr/>
        </p:nvCxnSpPr>
        <p:spPr>
          <a:xfrm>
            <a:off x="6018874" y="5355755"/>
            <a:ext cx="1191127" cy="3368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F7828BC9-E009-9273-7E0C-8BA1A0C62FBA}"/>
              </a:ext>
            </a:extLst>
          </p:cNvPr>
          <p:cNvCxnSpPr>
            <a:cxnSpLocks/>
          </p:cNvCxnSpPr>
          <p:nvPr/>
        </p:nvCxnSpPr>
        <p:spPr>
          <a:xfrm flipV="1">
            <a:off x="5886527" y="1417418"/>
            <a:ext cx="1018945" cy="9572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58EFBF8-B397-0522-FEEE-3B10D9E5F508}"/>
              </a:ext>
            </a:extLst>
          </p:cNvPr>
          <p:cNvSpPr txBox="1"/>
          <p:nvPr/>
        </p:nvSpPr>
        <p:spPr>
          <a:xfrm>
            <a:off x="863152" y="3077893"/>
            <a:ext cx="5329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Naszym zdaniem tego typu metoda, która aktualizuje rozmiar wewnętrznej (prywatnej) tablicy w obiekcie po aktualizacji wartości opóźnienia transportowego, powinna być prywatna i wywoływana wraz z seterem tej wartości.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5275741-E325-B8C8-EFF2-A374F7003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7908" y="6150394"/>
            <a:ext cx="504091" cy="70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89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FBBF9-57C4-BDF8-CF8E-F7C895D30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B2AD49-D816-93DF-BF42-C3F36E1F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2B83DA0-EC5F-07B7-080F-3D8321A0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12" y="2334126"/>
            <a:ext cx="6864577" cy="87755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7779BCA-89EC-3AE3-28CF-A00EE848E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185" y="2334126"/>
            <a:ext cx="4502723" cy="4419811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78489824-1CCF-BA6F-DAEC-E4954CA63C8F}"/>
              </a:ext>
            </a:extLst>
          </p:cNvPr>
          <p:cNvSpPr txBox="1"/>
          <p:nvPr/>
        </p:nvSpPr>
        <p:spPr>
          <a:xfrm>
            <a:off x="294212" y="3711636"/>
            <a:ext cx="6478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Naszym zdaniem </a:t>
            </a:r>
            <a:r>
              <a:rPr lang="pl-PL" err="1"/>
              <a:t>konstruktory</a:t>
            </a:r>
            <a:r>
              <a:rPr lang="pl-PL"/>
              <a:t> tego typu, które różnią się liczbą argumentów lepiej byłoby rozwiązać konstruktorem z argumentami domyślnymi.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DF588C7-239F-6B11-F859-EF84730F6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9631" y="6171008"/>
            <a:ext cx="492369" cy="69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93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A64C-2D9C-BA40-7573-BF94F9BA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3B4A97-F885-DE6C-FF24-3D3EB33C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97A9D70-B151-E04B-AC4B-E116010A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46" y="2512696"/>
            <a:ext cx="7192379" cy="32389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6875E5B9-9670-CE53-EBAE-2BBF782D9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204" y="4868741"/>
            <a:ext cx="3044995" cy="501076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B977022-FCEA-B5C5-A157-BFD19661E16D}"/>
              </a:ext>
            </a:extLst>
          </p:cNvPr>
          <p:cNvSpPr txBox="1"/>
          <p:nvPr/>
        </p:nvSpPr>
        <p:spPr>
          <a:xfrm>
            <a:off x="7351295" y="5678905"/>
            <a:ext cx="395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Plot twist: plik .</a:t>
            </a:r>
            <a:r>
              <a:rPr lang="pl-PL" err="1"/>
              <a:t>cpp</a:t>
            </a:r>
            <a:r>
              <a:rPr lang="pl-PL"/>
              <a:t> nie istnieje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9DE35F42-CF73-CF51-11CE-84B01AE20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46" y="3522219"/>
            <a:ext cx="5630061" cy="342948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BD0D78C5-2D01-A3F0-AEFC-5DAB7499F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46" y="4571658"/>
            <a:ext cx="2048161" cy="171474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A60DE774-9253-3742-2CD1-933E4DE5F86E}"/>
              </a:ext>
            </a:extLst>
          </p:cNvPr>
          <p:cNvSpPr txBox="1"/>
          <p:nvPr/>
        </p:nvSpPr>
        <p:spPr>
          <a:xfrm>
            <a:off x="875546" y="2105526"/>
            <a:ext cx="7324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Komentarze, które nie budzą pewności siebie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9674FB6-40DB-BCF0-8828-C7896A948714}"/>
              </a:ext>
            </a:extLst>
          </p:cNvPr>
          <p:cNvSpPr txBox="1"/>
          <p:nvPr/>
        </p:nvSpPr>
        <p:spPr>
          <a:xfrm>
            <a:off x="875545" y="3097466"/>
            <a:ext cx="5630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Wykorzystywanie zmiennych w roli stałych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B4ECE02-BFD8-B654-B14C-B62DDCEF8174}"/>
              </a:ext>
            </a:extLst>
          </p:cNvPr>
          <p:cNvSpPr txBox="1"/>
          <p:nvPr/>
        </p:nvSpPr>
        <p:spPr>
          <a:xfrm>
            <a:off x="809372" y="4116854"/>
            <a:ext cx="7324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Komentarze, które niewiele tłumaczą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AB8C60C-0531-F6C5-BB16-C534E74AA3C4}"/>
              </a:ext>
            </a:extLst>
          </p:cNvPr>
          <p:cNvSpPr txBox="1"/>
          <p:nvPr/>
        </p:nvSpPr>
        <p:spPr>
          <a:xfrm>
            <a:off x="7230224" y="3991559"/>
            <a:ext cx="4476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I na koniec: implementacja klasy odpowiedzialnej za interwał symulacji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05F3E45-6B58-A3F3-A180-802FC5DD5CBD}"/>
              </a:ext>
            </a:extLst>
          </p:cNvPr>
          <p:cNvSpPr txBox="1"/>
          <p:nvPr/>
        </p:nvSpPr>
        <p:spPr>
          <a:xfrm>
            <a:off x="5939760" y="6154591"/>
            <a:ext cx="5679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Finalnie klasa tu zadeklarowana nie jest użytkowana.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01BB155-ACB8-5B0E-B91C-E2F037B78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6726" y="6143988"/>
            <a:ext cx="508890" cy="71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8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  <p:bldP spid="6" grpId="0"/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621F-9139-75C6-9BB1-4A41B1A8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D225F1-FF10-9EBA-B577-94BD4316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Przykładu kodu nadającego się do </a:t>
            </a:r>
            <a:r>
              <a:rPr lang="pl-PL" err="1"/>
              <a:t>refaktoryzacji</a:t>
            </a:r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8C42303-1029-1FEC-E65C-9ABEFA101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4" y="2562726"/>
            <a:ext cx="7498960" cy="3852577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326F5684-9D45-B931-F9D1-9F1EF0970330}"/>
              </a:ext>
            </a:extLst>
          </p:cNvPr>
          <p:cNvSpPr txBox="1"/>
          <p:nvPr/>
        </p:nvSpPr>
        <p:spPr>
          <a:xfrm>
            <a:off x="9023684" y="3970421"/>
            <a:ext cx="2021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Błędne zaokrąglenie wartości PI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E28B924-E103-39A6-43CD-285500080A50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080084" y="4162926"/>
            <a:ext cx="5943600" cy="2691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0ED036C-1A78-E4BB-8981-9FFAF6F8D8D1}"/>
              </a:ext>
            </a:extLst>
          </p:cNvPr>
          <p:cNvSpPr txBox="1"/>
          <p:nvPr/>
        </p:nvSpPr>
        <p:spPr>
          <a:xfrm>
            <a:off x="4802604" y="5160646"/>
            <a:ext cx="258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„Magiczne liczby”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0F028F3-66C3-57B9-1502-132F27CE29D6}"/>
              </a:ext>
            </a:extLst>
          </p:cNvPr>
          <p:cNvSpPr txBox="1"/>
          <p:nvPr/>
        </p:nvSpPr>
        <p:spPr>
          <a:xfrm>
            <a:off x="8458200" y="2159710"/>
            <a:ext cx="3128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Po co tutaj </a:t>
            </a:r>
            <a:r>
              <a:rPr lang="pl-PL" err="1"/>
              <a:t>floor</a:t>
            </a:r>
            <a:r>
              <a:rPr lang="pl-PL"/>
              <a:t>, skoro i tak </a:t>
            </a:r>
            <a:r>
              <a:rPr lang="pl-PL" err="1"/>
              <a:t>castujemy</a:t>
            </a:r>
            <a:r>
              <a:rPr lang="pl-PL"/>
              <a:t> na </a:t>
            </a:r>
            <a:r>
              <a:rPr lang="pl-PL" err="1"/>
              <a:t>int</a:t>
            </a:r>
            <a:r>
              <a:rPr lang="pl-PL"/>
              <a:t>?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4285ABA-0B7D-E841-0E69-EA3A1EBB8496}"/>
              </a:ext>
            </a:extLst>
          </p:cNvPr>
          <p:cNvSpPr txBox="1"/>
          <p:nvPr/>
        </p:nvSpPr>
        <p:spPr>
          <a:xfrm>
            <a:off x="5329989" y="3448084"/>
            <a:ext cx="3128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Powtarzalność kodu w instrukcji warunkowej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91175717-12D7-F59F-676A-8A6FF18EDC2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290095" y="3771250"/>
            <a:ext cx="2039894" cy="9412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19EAA8CE-947A-0547-0D17-50ABB22E3538}"/>
              </a:ext>
            </a:extLst>
          </p:cNvPr>
          <p:cNvCxnSpPr>
            <a:cxnSpLocks/>
          </p:cNvCxnSpPr>
          <p:nvPr/>
        </p:nvCxnSpPr>
        <p:spPr>
          <a:xfrm flipH="1">
            <a:off x="3290095" y="4094415"/>
            <a:ext cx="2805903" cy="1066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wal 20">
            <a:extLst>
              <a:ext uri="{FF2B5EF4-FFF2-40B4-BE49-F238E27FC236}">
                <a16:creationId xmlns:a16="http://schemas.microsoft.com/office/drawing/2014/main" id="{43830285-A92E-73D4-7FD8-8CF5CF251C07}"/>
              </a:ext>
            </a:extLst>
          </p:cNvPr>
          <p:cNvSpPr/>
          <p:nvPr/>
        </p:nvSpPr>
        <p:spPr>
          <a:xfrm>
            <a:off x="6894094" y="3019926"/>
            <a:ext cx="854243" cy="2996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Owal 21">
            <a:extLst>
              <a:ext uri="{FF2B5EF4-FFF2-40B4-BE49-F238E27FC236}">
                <a16:creationId xmlns:a16="http://schemas.microsoft.com/office/drawing/2014/main" id="{D4780831-1255-96EC-0AC1-390C1681FDD1}"/>
              </a:ext>
            </a:extLst>
          </p:cNvPr>
          <p:cNvSpPr/>
          <p:nvPr/>
        </p:nvSpPr>
        <p:spPr>
          <a:xfrm>
            <a:off x="2330846" y="3948590"/>
            <a:ext cx="854243" cy="2996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134F1461-AFB3-A69B-5C85-DE4BBBDA0C47}"/>
              </a:ext>
            </a:extLst>
          </p:cNvPr>
          <p:cNvSpPr/>
          <p:nvPr/>
        </p:nvSpPr>
        <p:spPr>
          <a:xfrm>
            <a:off x="1359568" y="3019926"/>
            <a:ext cx="6548466" cy="381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1C4D863-3EB7-FB2A-69F9-A53419F7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761" y="6119446"/>
            <a:ext cx="526835" cy="7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ADB2-499A-CF71-9A04-A49624A5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1CEE79-5FBA-CCAA-3CD3-B215D565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 propozycji do </a:t>
            </a:r>
            <a:r>
              <a:rPr lang="pl-PL" err="1"/>
              <a:t>refakoryzacji</a:t>
            </a:r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2C5AADB-9729-7CE2-ED70-7ED975A7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95" y="1725561"/>
            <a:ext cx="4225020" cy="4970208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CD10AAFF-75F6-B1A0-0363-961C9ABCEBE4}"/>
              </a:ext>
            </a:extLst>
          </p:cNvPr>
          <p:cNvSpPr txBox="1"/>
          <p:nvPr/>
        </p:nvSpPr>
        <p:spPr>
          <a:xfrm>
            <a:off x="6959887" y="2336691"/>
            <a:ext cx="451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Brak </a:t>
            </a:r>
            <a:r>
              <a:rPr lang="pl-PL" err="1"/>
              <a:t>uml</a:t>
            </a:r>
            <a:r>
              <a:rPr lang="pl-PL"/>
              <a:t> i podziału na foldery warstw.</a:t>
            </a:r>
          </a:p>
        </p:txBody>
      </p:sp>
    </p:spTree>
    <p:extLst>
      <p:ext uri="{BB962C8B-B14F-4D97-AF65-F5344CB8AC3E}">
        <p14:creationId xmlns:p14="http://schemas.microsoft.com/office/powerpoint/2010/main" val="20497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DED965D4-C35C-D189-80E7-4B212F49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 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F0B7FF3-1D98-F156-9AFC-DE981505E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W związku z pokazanymi odstępstwami od specyfikacji dużą część kodu programu poddaliśmy </a:t>
            </a:r>
            <a:r>
              <a:rPr lang="pl-PL" err="1"/>
              <a:t>refaktoryzacji</a:t>
            </a:r>
            <a:r>
              <a:rPr lang="pl-PL"/>
              <a:t>.</a:t>
            </a:r>
          </a:p>
          <a:p>
            <a:r>
              <a:rPr lang="pl-PL"/>
              <a:t>Prezentowany na późniejszych slajdach kod przedstawia już wersję po </a:t>
            </a:r>
            <a:r>
              <a:rPr lang="pl-PL" err="1"/>
              <a:t>refaktoryzacji</a:t>
            </a:r>
            <a:r>
              <a:rPr lang="pl-PL"/>
              <a:t> i naprawie wskazanych przez nas odchyleń od specyfikacji.</a:t>
            </a:r>
          </a:p>
        </p:txBody>
      </p:sp>
    </p:spTree>
    <p:extLst>
      <p:ext uri="{BB962C8B-B14F-4D97-AF65-F5344CB8AC3E}">
        <p14:creationId xmlns:p14="http://schemas.microsoft.com/office/powerpoint/2010/main" val="2273234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A5DDEE-0F69-3C2B-9633-5F83ABD67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Komunikacja – wymiana informacji o konfiguracji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6FE8BC-F461-9BA0-FE1E-1AE021BFD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1497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F2C5DB7F-A43E-05FB-86EF-D4CC87B0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GUI połączeń sieciowych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919B7B3E-A3E3-DE09-F423-C40B4370B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487" y="2049181"/>
            <a:ext cx="8747026" cy="464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86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099CA-583D-CE80-C471-7B9F24C9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C50AC99F-CC3D-336C-4222-3A5BC3A0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Demonstracja działania</a:t>
            </a:r>
          </a:p>
        </p:txBody>
      </p:sp>
    </p:spTree>
    <p:extLst>
      <p:ext uri="{BB962C8B-B14F-4D97-AF65-F5344CB8AC3E}">
        <p14:creationId xmlns:p14="http://schemas.microsoft.com/office/powerpoint/2010/main" val="3353199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2088-08E9-8CE1-C06E-E6A9EF4B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243531-6E08-2D1C-1070-787DCB01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Kod realizujący – zatwierdzenie zmian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CB349154-712A-FC16-BC0E-45547D0D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46" y="2583958"/>
            <a:ext cx="9235588" cy="315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41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D29B5F-3C1F-281C-82E2-8113DD07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Kod realizujący – przygotowanie pakietu i wysyłka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6E5A917-96DD-1609-3C56-67C0D927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37" y="2180323"/>
            <a:ext cx="9640645" cy="169568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97F869F-D49D-D09A-7552-E5BBC7458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37" y="4111277"/>
            <a:ext cx="7706801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5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2CE0-708A-29B6-41D2-2F1A8B83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1E61DE-72EF-E630-00DE-1EB7F4C6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Kod realizujący – odbieranie danych i dekapsulacja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1EEC5A0-6C32-D301-0200-3BFD9A26C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92" y="4165847"/>
            <a:ext cx="8316486" cy="2486372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BBF6CD8F-E41B-18DD-EDBA-3F7944624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92" y="1947122"/>
            <a:ext cx="8491946" cy="195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93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EAC7-7260-8A15-A376-D7C68BAA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FF28A6-C8D8-25DB-4C0B-29ED7508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Kod realizujący – aktualizacja stanu i w GUI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1E1DCA9-9410-DBAD-5DCA-D567BD226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12" y="2503819"/>
            <a:ext cx="1076475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69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7930-FA61-A772-81D9-F2F61841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B86F3D-F3E4-BDC1-10D4-F558A486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Kod realizujący – definicje protokołu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471DF4F-B655-E2F5-729A-2C8612ADB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13" y="2091846"/>
            <a:ext cx="5746783" cy="467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94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D97E-CDF3-245E-1E3E-3FECDFAE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208023-61A2-060B-6150-CD8E2EE8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Projekt protokołu komunikacji</a:t>
            </a:r>
          </a:p>
        </p:txBody>
      </p:sp>
    </p:spTree>
    <p:extLst>
      <p:ext uri="{BB962C8B-B14F-4D97-AF65-F5344CB8AC3E}">
        <p14:creationId xmlns:p14="http://schemas.microsoft.com/office/powerpoint/2010/main" val="743750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8D64CD-C6DF-3592-DEC7-05C1EBEF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Projekt protokołu komunikacji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0543A0-50EE-4B80-5575-8A153B865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komunikat do obiektu ARX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32DB51E-29A4-2372-E0D7-2B4633769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816132"/>
              </p:ext>
            </p:extLst>
          </p:nvPr>
        </p:nvGraphicFramePr>
        <p:xfrm>
          <a:off x="415144" y="2950802"/>
          <a:ext cx="10660464" cy="3605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79">
                  <a:extLst>
                    <a:ext uri="{9D8B030D-6E8A-4147-A177-3AD203B41FA5}">
                      <a16:colId xmlns:a16="http://schemas.microsoft.com/office/drawing/2014/main" val="291047170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345985955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85083876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3090142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812082165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95611394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315605990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59746659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674934352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66619823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88409494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083772572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901173081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442479436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668875417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023593508"/>
                    </a:ext>
                  </a:extLst>
                </a:gridCol>
              </a:tblGrid>
              <a:tr h="405046">
                <a:tc>
                  <a:txBody>
                    <a:bodyPr/>
                    <a:lstStyle/>
                    <a:p>
                      <a:r>
                        <a:rPr lang="pl-PL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25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pl-PL" err="1"/>
                        <a:t>Ovl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err="1"/>
                        <a:t>Chg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Ret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err="1"/>
                        <a:t>Err</a:t>
                      </a:r>
                      <a:endParaRPr lang="pl-P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Suma kontrolna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Numer cyklu z generatora (8 LSB)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471578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algn="ctr"/>
                      <a:r>
                        <a:rPr lang="pl-PL"/>
                        <a:t>Wyjście z regulatora (16 MSB)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879869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Wyjście z regulatora (16b)</a:t>
                      </a:r>
                    </a:p>
                    <a:p>
                      <a:pPr algn="ctr"/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37513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Wyjście z regulatora (16b)</a:t>
                      </a:r>
                    </a:p>
                    <a:p>
                      <a:pPr algn="ctr"/>
                      <a:r>
                        <a:rPr lang="pl-PL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411876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Wyjście z regulatora (16 LSB)</a:t>
                      </a:r>
                    </a:p>
                    <a:p>
                      <a:pPr algn="ctr"/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312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870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E84E-C9E4-801E-85EA-AF2BDF3B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864621-53A1-93EC-1CF0-4CC31EDB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Projekt protokołu komunikacji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4C50D-3EF6-AA35-F85D-356826E6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543487"/>
          </a:xfrm>
        </p:spPr>
        <p:txBody>
          <a:bodyPr/>
          <a:lstStyle/>
          <a:p>
            <a:r>
              <a:rPr lang="pl-PL"/>
              <a:t>odpowiedź z obiektu ARX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8F6A25-94E6-A911-1B6F-B81E7720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862034"/>
              </p:ext>
            </p:extLst>
          </p:nvPr>
        </p:nvGraphicFramePr>
        <p:xfrm>
          <a:off x="415144" y="2950802"/>
          <a:ext cx="10660464" cy="3605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79">
                  <a:extLst>
                    <a:ext uri="{9D8B030D-6E8A-4147-A177-3AD203B41FA5}">
                      <a16:colId xmlns:a16="http://schemas.microsoft.com/office/drawing/2014/main" val="291047170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345985955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85083876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3090142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812082165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95611394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315605990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59746659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674934352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66619823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88409494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083772572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901173081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442479436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668875417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023593508"/>
                    </a:ext>
                  </a:extLst>
                </a:gridCol>
              </a:tblGrid>
              <a:tr h="405046">
                <a:tc>
                  <a:txBody>
                    <a:bodyPr/>
                    <a:lstStyle/>
                    <a:p>
                      <a:r>
                        <a:rPr lang="pl-PL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25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err="1"/>
                        <a:t>Ovl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err="1"/>
                        <a:t>Chg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Ret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err="1"/>
                        <a:t>Err</a:t>
                      </a:r>
                      <a:endParaRPr lang="pl-P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Suma kontrolna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Numer cyklu z generatora (8 LSB)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471578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algn="ctr"/>
                      <a:r>
                        <a:rPr lang="pl-PL"/>
                        <a:t>Wyjście z obiektu (16 MSB)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879869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Wyjście z obiektu (16b)</a:t>
                      </a:r>
                    </a:p>
                    <a:p>
                      <a:pPr algn="ctr"/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37513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Wyjście z obiektu (16b)</a:t>
                      </a:r>
                    </a:p>
                    <a:p>
                      <a:pPr algn="ctr"/>
                      <a:r>
                        <a:rPr lang="pl-PL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411876"/>
                  </a:ext>
                </a:extLst>
              </a:tr>
              <a:tr h="640080">
                <a:tc gridSpan="1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Wyjście z obiektu (16 LSB)</a:t>
                      </a:r>
                    </a:p>
                    <a:p>
                      <a:pPr algn="ctr"/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312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602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AA5F-16E9-E709-6E4D-EB860D38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DF6FA1-2287-D413-6708-09CF4C9B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Projekt protokołu komunikacji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95ABEF5-AD1F-F539-AF45-60CC9838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543487"/>
          </a:xfrm>
        </p:spPr>
        <p:txBody>
          <a:bodyPr/>
          <a:lstStyle/>
          <a:p>
            <a:r>
              <a:rPr lang="pl-PL"/>
              <a:t>prośba o retransmisję z/do obiektu ARX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652D408-041D-70E6-DE42-AF7843F66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135837"/>
              </p:ext>
            </p:extLst>
          </p:nvPr>
        </p:nvGraphicFramePr>
        <p:xfrm>
          <a:off x="415144" y="2950802"/>
          <a:ext cx="10660464" cy="1045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79">
                  <a:extLst>
                    <a:ext uri="{9D8B030D-6E8A-4147-A177-3AD203B41FA5}">
                      <a16:colId xmlns:a16="http://schemas.microsoft.com/office/drawing/2014/main" val="291047170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345985955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85083876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3090142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812082165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95611394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315605990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59746659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674934352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666198233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884094940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083772572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901173081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442479436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1668875417"/>
                    </a:ext>
                  </a:extLst>
                </a:gridCol>
                <a:gridCol w="666279">
                  <a:extLst>
                    <a:ext uri="{9D8B030D-6E8A-4147-A177-3AD203B41FA5}">
                      <a16:colId xmlns:a16="http://schemas.microsoft.com/office/drawing/2014/main" val="2023593508"/>
                    </a:ext>
                  </a:extLst>
                </a:gridCol>
              </a:tblGrid>
              <a:tr h="405046">
                <a:tc>
                  <a:txBody>
                    <a:bodyPr/>
                    <a:lstStyle/>
                    <a:p>
                      <a:r>
                        <a:rPr lang="pl-PL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25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Ret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Suma kontrolna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/>
                        <a:t>Numer cyklu z generatora (8 LSB)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471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63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2918BE9A-FA63-084C-82EF-355CCB5A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Dziękujemy za uwagę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9CF2418-43C3-4AB0-052D-54B066BC7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l-PL"/>
              <a:t>Kamil Warczek</a:t>
            </a:r>
          </a:p>
          <a:p>
            <a:r>
              <a:rPr lang="pl-PL">
                <a:hlinkClick r:id="rId2"/>
              </a:rPr>
              <a:t>kw316241@student.polsl.pl</a:t>
            </a:r>
            <a:endParaRPr lang="pl-PL"/>
          </a:p>
          <a:p>
            <a:r>
              <a:rPr lang="pl-PL"/>
              <a:t>Antoni Surowy</a:t>
            </a:r>
          </a:p>
          <a:p>
            <a:r>
              <a:rPr lang="pl-PL">
                <a:hlinkClick r:id="rId3"/>
              </a:rPr>
              <a:t>as316262@student.polsl.pl</a:t>
            </a:r>
            <a:endParaRPr lang="pl-PL"/>
          </a:p>
          <a:p>
            <a:endParaRPr lang="pl-PL"/>
          </a:p>
          <a:p>
            <a:endParaRPr lang="pl-PL"/>
          </a:p>
        </p:txBody>
      </p:sp>
      <p:pic>
        <p:nvPicPr>
          <p:cNvPr id="1030" name="Picture 6" descr="Emoji GIF - Emoji - Discover &amp; Share GIFs">
            <a:extLst>
              <a:ext uri="{FF2B5EF4-FFF2-40B4-BE49-F238E27FC236}">
                <a16:creationId xmlns:a16="http://schemas.microsoft.com/office/drawing/2014/main" id="{4DFCE155-1086-CF3E-91FB-AF6552438A5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37" b="1683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04104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0</TotalTime>
  <Words>668</Words>
  <Application>Microsoft Office PowerPoint</Application>
  <PresentationFormat>Panoramiczny</PresentationFormat>
  <Paragraphs>153</Paragraphs>
  <Slides>36</Slides>
  <Notes>5</Notes>
  <HiddenSlides>0</HiddenSlides>
  <MMClips>6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36</vt:i4>
      </vt:variant>
    </vt:vector>
  </HeadingPairs>
  <TitlesOfParts>
    <vt:vector size="40" baseType="lpstr">
      <vt:lpstr>Aptos</vt:lpstr>
      <vt:lpstr>Arial</vt:lpstr>
      <vt:lpstr>Trebuchet MS</vt:lpstr>
      <vt:lpstr>Berlin</vt:lpstr>
      <vt:lpstr>Symulator UAR</vt:lpstr>
      <vt:lpstr>Walidacja i weryfikacja otrzymanej aplikacji</vt:lpstr>
      <vt:lpstr>Walidacja</vt:lpstr>
      <vt:lpstr>Walidacja</vt:lpstr>
      <vt:lpstr>Walidacja</vt:lpstr>
      <vt:lpstr>Walidacja</vt:lpstr>
      <vt:lpstr>Walidacja</vt:lpstr>
      <vt:lpstr>Walidacja</vt:lpstr>
      <vt:lpstr>Weryfikacja</vt:lpstr>
      <vt:lpstr>Weryfikacja</vt:lpstr>
      <vt:lpstr>Weryfikacja</vt:lpstr>
      <vt:lpstr>Code review</vt:lpstr>
      <vt:lpstr>Przykłady dobrego kodu</vt:lpstr>
      <vt:lpstr>Przykładu kodu nadającego się do refaktoryzacji</vt:lpstr>
      <vt:lpstr>Przykładu kodu nadającego się do refaktoryzacji</vt:lpstr>
      <vt:lpstr>Przykładu kodu nadającego się do refaktoryzacji</vt:lpstr>
      <vt:lpstr>Przykładu kodu nadającego się do refaktoryzacji</vt:lpstr>
      <vt:lpstr>Przykładu kodu nadającego się do refaktoryzacji</vt:lpstr>
      <vt:lpstr>Przykładu kodu nadającego się do refaktoryzacji</vt:lpstr>
      <vt:lpstr>Przykładu kodu nadającego się do refaktoryzacji</vt:lpstr>
      <vt:lpstr>Przykładu kodu nadającego się do refaktoryzacji</vt:lpstr>
      <vt:lpstr>Przykład propozycji do refakoryzacji</vt:lpstr>
      <vt:lpstr> </vt:lpstr>
      <vt:lpstr>Komunikacja – wymiana informacji o konfiguracji</vt:lpstr>
      <vt:lpstr>GUI połączeń sieciowych</vt:lpstr>
      <vt:lpstr>Demonstracja działania</vt:lpstr>
      <vt:lpstr>Kod realizujący – zatwierdzenie zmian</vt:lpstr>
      <vt:lpstr>Kod realizujący – przygotowanie pakietu i wysyłka</vt:lpstr>
      <vt:lpstr>Kod realizujący – odbieranie danych i dekapsulacja</vt:lpstr>
      <vt:lpstr>Kod realizujący – aktualizacja stanu i w GUI</vt:lpstr>
      <vt:lpstr>Kod realizujący – definicje protokołu</vt:lpstr>
      <vt:lpstr>Projekt protokołu komunikacji</vt:lpstr>
      <vt:lpstr>Projekt protokołu komunikacji</vt:lpstr>
      <vt:lpstr>Projekt protokołu komunikacji</vt:lpstr>
      <vt:lpstr>Projekt protokołu komunikacji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Warczek (kw316241)</dc:creator>
  <cp:lastModifiedBy>Kamil Warczek (kw316241)</cp:lastModifiedBy>
  <cp:revision>1</cp:revision>
  <dcterms:created xsi:type="dcterms:W3CDTF">2026-03-18T22:01:09Z</dcterms:created>
  <dcterms:modified xsi:type="dcterms:W3CDTF">2026-06-12T09:04:43Z</dcterms:modified>
</cp:coreProperties>
</file>